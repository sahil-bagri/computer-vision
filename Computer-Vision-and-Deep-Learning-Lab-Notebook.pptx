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embeddedFontLst>
    <p:embeddedFont>
      <p:font typeface="Petrona Bold"/>
      <p:regular r:id="rId17"/>
    </p:embeddedFont>
    <p:embeddedFont>
      <p:font typeface="Inter"/>
      <p:regular r:id="rId18"/>
    </p:embeddedFont>
    <p:embeddedFont>
      <p:font typeface="Inter Bold"/>
      <p:regular r:id="rId19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3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2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DFAF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2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DFAF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2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DFAF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2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DFAF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2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DFAF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2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DFAF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2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DFAF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2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DFAF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2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DFAF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2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DFAF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image" Target="../media/image-6-3.png"/><Relationship Id="rId4" Type="http://schemas.openxmlformats.org/officeDocument/2006/relationships/image" Target="../media/image-6-4.svg"/><Relationship Id="rId5" Type="http://schemas.openxmlformats.org/officeDocument/2006/relationships/slideLayout" Target="../slideLayouts/slideLayout7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image" Target="../media/image-8-3.png"/><Relationship Id="rId4" Type="http://schemas.openxmlformats.org/officeDocument/2006/relationships/image" Target="../media/image-8-4.svg"/><Relationship Id="rId5" Type="http://schemas.openxmlformats.org/officeDocument/2006/relationships/image" Target="../media/image-8-5.png"/><Relationship Id="rId6" Type="http://schemas.openxmlformats.org/officeDocument/2006/relationships/image" Target="../media/image-8-6.svg"/><Relationship Id="rId7" Type="http://schemas.openxmlformats.org/officeDocument/2006/relationships/image" Target="../media/image-8-7.png"/><Relationship Id="rId8" Type="http://schemas.openxmlformats.org/officeDocument/2006/relationships/image" Target="../media/image-8-8.svg"/><Relationship Id="rId9" Type="http://schemas.openxmlformats.org/officeDocument/2006/relationships/image" Target="../media/image-8-9.png"/><Relationship Id="rId10" Type="http://schemas.openxmlformats.org/officeDocument/2006/relationships/slideLayout" Target="../slideLayouts/slideLayout9.xml"/><Relationship Id="rId11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image" Target="../media/image-10-3.png"/><Relationship Id="rId4" Type="http://schemas.openxmlformats.org/officeDocument/2006/relationships/image" Target="../media/image-10-4.svg"/><Relationship Id="rId5" Type="http://schemas.openxmlformats.org/officeDocument/2006/relationships/image" Target="../media/image-10-5.png"/><Relationship Id="rId6" Type="http://schemas.openxmlformats.org/officeDocument/2006/relationships/image" Target="../media/image-10-6.svg"/><Relationship Id="rId7" Type="http://schemas.openxmlformats.org/officeDocument/2006/relationships/image" Target="../media/image-10-7.png"/><Relationship Id="rId8" Type="http://schemas.openxmlformats.org/officeDocument/2006/relationships/slideLayout" Target="../slideLayouts/slideLayout11.xml"/><Relationship Id="rId9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DFAF7">
              <a:alpha val="85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540023" y="1442219"/>
            <a:ext cx="8063954" cy="10606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300" b="1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Computer Vision &amp; Deep Learning Lab Notebook</a:t>
            </a:r>
            <a:endParaRPr lang="en-US" sz="3300" dirty="0"/>
          </a:p>
        </p:txBody>
      </p:sp>
      <p:sp>
        <p:nvSpPr>
          <p:cNvPr id="5" name="Text 2"/>
          <p:cNvSpPr/>
          <p:nvPr/>
        </p:nvSpPr>
        <p:spPr>
          <a:xfrm>
            <a:off x="540023" y="2734345"/>
            <a:ext cx="8063954" cy="4938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structured guide through 10 practicals covering OpenCV image processing, convolutional neural networks, and modern face and pose detection — from raw pixel matrices to real-time landmark tracking.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540023" y="3406453"/>
            <a:ext cx="1111672" cy="290066"/>
          </a:xfrm>
          <a:prstGeom prst="roundRect">
            <a:avLst>
              <a:gd name="adj" fmla="val 17874"/>
            </a:avLst>
          </a:prstGeom>
          <a:solidFill>
            <a:srgbClr val="E0D7F4"/>
          </a:solidFill>
          <a:ln/>
        </p:spPr>
      </p:sp>
      <p:sp>
        <p:nvSpPr>
          <p:cNvPr id="7" name="Text 4"/>
          <p:cNvSpPr/>
          <p:nvPr/>
        </p:nvSpPr>
        <p:spPr>
          <a:xfrm>
            <a:off x="632594" y="3452738"/>
            <a:ext cx="1383729" cy="197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 PRACTICALS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1728788" y="3401690"/>
            <a:ext cx="2524720" cy="299591"/>
          </a:xfrm>
          <a:prstGeom prst="roundRect">
            <a:avLst>
              <a:gd name="adj" fmla="val 17306"/>
            </a:avLst>
          </a:prstGeom>
          <a:noFill/>
          <a:ln w="4763">
            <a:solidFill>
              <a:srgbClr val="6237C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826121" y="3452738"/>
            <a:ext cx="2787253" cy="197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6237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OPENCV + TENSORFLOW + MEDIAPIPE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4330601" y="3401690"/>
            <a:ext cx="1526530" cy="299591"/>
          </a:xfrm>
          <a:prstGeom prst="roundRect">
            <a:avLst>
              <a:gd name="adj" fmla="val 17306"/>
            </a:avLst>
          </a:prstGeom>
          <a:noFill/>
          <a:ln w="4763">
            <a:solidFill>
              <a:srgbClr val="6237C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427934" y="3452738"/>
            <a:ext cx="1789063" cy="197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6237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STUDENT REFERENCE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08735" y="334119"/>
            <a:ext cx="4955530" cy="7459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300" b="1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Notebook Overview: What You'll Learn</a:t>
            </a:r>
            <a:endParaRPr lang="en-US" sz="2300" dirty="0"/>
          </a:p>
        </p:txBody>
      </p:sp>
      <p:sp>
        <p:nvSpPr>
          <p:cNvPr id="4" name="Text 1"/>
          <p:cNvSpPr/>
          <p:nvPr/>
        </p:nvSpPr>
        <p:spPr>
          <a:xfrm>
            <a:off x="3808735" y="1194420"/>
            <a:ext cx="4955530" cy="4433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notebook is a </a:t>
            </a:r>
            <a:pPr algn="l" indent="0" marL="0">
              <a:lnSpc>
                <a:spcPct val="114000"/>
              </a:lnSpc>
              <a:buNone/>
            </a:pPr>
            <a:r>
              <a:rPr lang="en-US" sz="8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lab workbook</a:t>
            </a:r>
            <a:pPr algn="l" indent="0" marL="0">
              <a:lnSpc>
                <a:spcPct val="114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not a single project. Each practical builds a specific skill, from understanding how computers "see" images to deploying deep learning face detectors. The progression mirrors a real computer vision curriculum.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3808735" y="1723579"/>
            <a:ext cx="216991" cy="13558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Petrona Light" pitchFamily="34" charset="0"/>
                <a:ea typeface="Petrona Light" pitchFamily="34" charset="-122"/>
                <a:cs typeface="Petrona Light" pitchFamily="34" charset="-120"/>
              </a:rPr>
              <a:t>01</a:t>
            </a:r>
            <a:endParaRPr lang="en-US" sz="850" dirty="0"/>
          </a:p>
        </p:txBody>
      </p:sp>
      <p:sp>
        <p:nvSpPr>
          <p:cNvPr id="6" name="Shape 3"/>
          <p:cNvSpPr/>
          <p:nvPr/>
        </p:nvSpPr>
        <p:spPr>
          <a:xfrm>
            <a:off x="3808735" y="1893615"/>
            <a:ext cx="4955530" cy="14288"/>
          </a:xfrm>
          <a:prstGeom prst="rect">
            <a:avLst/>
          </a:prstGeom>
          <a:solidFill>
            <a:srgbClr val="6237C8"/>
          </a:solidFill>
          <a:ln/>
        </p:spPr>
      </p:sp>
      <p:sp>
        <p:nvSpPr>
          <p:cNvPr id="7" name="Text 4"/>
          <p:cNvSpPr/>
          <p:nvPr/>
        </p:nvSpPr>
        <p:spPr>
          <a:xfrm>
            <a:off x="3808735" y="1976438"/>
            <a:ext cx="1491779" cy="1864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Foundations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3808735" y="2208684"/>
            <a:ext cx="4955530" cy="1477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 neural networks, image matrices, flattening, and pixel values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3808735" y="2514079"/>
            <a:ext cx="216991" cy="13558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Petrona Light" pitchFamily="34" charset="0"/>
                <a:ea typeface="Petrona Light" pitchFamily="34" charset="-122"/>
                <a:cs typeface="Petrona Light" pitchFamily="34" charset="-120"/>
              </a:rPr>
              <a:t>02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3808735" y="2684115"/>
            <a:ext cx="4955530" cy="14288"/>
          </a:xfrm>
          <a:prstGeom prst="rect">
            <a:avLst/>
          </a:prstGeom>
          <a:solidFill>
            <a:srgbClr val="6237C8"/>
          </a:solidFill>
          <a:ln/>
        </p:spPr>
      </p:sp>
      <p:sp>
        <p:nvSpPr>
          <p:cNvPr id="11" name="Text 8"/>
          <p:cNvSpPr/>
          <p:nvPr/>
        </p:nvSpPr>
        <p:spPr>
          <a:xfrm>
            <a:off x="3808735" y="2766938"/>
            <a:ext cx="1491779" cy="1864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CNN Architecture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3808735" y="2999184"/>
            <a:ext cx="4955530" cy="1477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Conv2D, MaxPooling, Flatten, Dense layers on CIFAR-10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3808735" y="3304580"/>
            <a:ext cx="216991" cy="13558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Petrona Light" pitchFamily="34" charset="0"/>
                <a:ea typeface="Petrona Light" pitchFamily="34" charset="-122"/>
                <a:cs typeface="Petrona Light" pitchFamily="34" charset="-120"/>
              </a:rPr>
              <a:t>03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808735" y="3474616"/>
            <a:ext cx="4955530" cy="14288"/>
          </a:xfrm>
          <a:prstGeom prst="rect">
            <a:avLst/>
          </a:prstGeom>
          <a:solidFill>
            <a:srgbClr val="6237C8"/>
          </a:solidFill>
          <a:ln/>
        </p:spPr>
      </p:sp>
      <p:sp>
        <p:nvSpPr>
          <p:cNvPr id="15" name="Text 12"/>
          <p:cNvSpPr/>
          <p:nvPr/>
        </p:nvSpPr>
        <p:spPr>
          <a:xfrm>
            <a:off x="3808735" y="3557439"/>
            <a:ext cx="1491779" cy="1864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Image Processing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3808735" y="3789685"/>
            <a:ext cx="4955530" cy="1477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Sharpening, contrast adjustment, histogram equalization, segmentation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3808735" y="4095080"/>
            <a:ext cx="216991" cy="13558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Petrona Light" pitchFamily="34" charset="0"/>
                <a:ea typeface="Petrona Light" pitchFamily="34" charset="-122"/>
                <a:cs typeface="Petrona Light" pitchFamily="34" charset="-120"/>
              </a:rPr>
              <a:t>04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3808735" y="4265116"/>
            <a:ext cx="4955530" cy="14288"/>
          </a:xfrm>
          <a:prstGeom prst="rect">
            <a:avLst/>
          </a:prstGeom>
          <a:solidFill>
            <a:srgbClr val="6237C8"/>
          </a:solidFill>
          <a:ln/>
        </p:spPr>
      </p:sp>
      <p:sp>
        <p:nvSpPr>
          <p:cNvPr id="19" name="Text 16"/>
          <p:cNvSpPr/>
          <p:nvPr/>
        </p:nvSpPr>
        <p:spPr>
          <a:xfrm>
            <a:off x="3808735" y="4347939"/>
            <a:ext cx="1491779" cy="1864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Applied Vision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3808735" y="4580186"/>
            <a:ext cx="4955530" cy="1477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Face detection (Haar + Deep Learning), pose estimation, compression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4722" y="554608"/>
            <a:ext cx="909712" cy="271909"/>
          </a:xfrm>
          <a:prstGeom prst="roundRect">
            <a:avLst>
              <a:gd name="adj" fmla="val 18174"/>
            </a:avLst>
          </a:prstGeom>
          <a:solidFill>
            <a:srgbClr val="E0D7F4"/>
          </a:solidFill>
          <a:ln/>
        </p:spPr>
      </p:sp>
      <p:sp>
        <p:nvSpPr>
          <p:cNvPr id="3" name="Text 1"/>
          <p:cNvSpPr/>
          <p:nvPr/>
        </p:nvSpPr>
        <p:spPr>
          <a:xfrm>
            <a:off x="602903" y="598661"/>
            <a:ext cx="1190551" cy="1838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PRACTICAL 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14722" y="882551"/>
            <a:ext cx="6734175" cy="505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150" b="1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Why Neural Networks Are Needed</a:t>
            </a:r>
            <a:endParaRPr lang="en-US" sz="3150" dirty="0"/>
          </a:p>
        </p:txBody>
      </p:sp>
      <p:sp>
        <p:nvSpPr>
          <p:cNvPr id="5" name="Text 3"/>
          <p:cNvSpPr/>
          <p:nvPr/>
        </p:nvSpPr>
        <p:spPr>
          <a:xfrm>
            <a:off x="514722" y="1598265"/>
            <a:ext cx="8114556" cy="4594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first practical uses the </a:t>
            </a:r>
            <a:pPr algn="l" indent="0" marL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MNIST dataset</a:t>
            </a:r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to reveal a fundamental truth: humans see a digit, but a computer sees a 28×28 grid of numbers. This gap is exactly why neural networks exist.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08831" y="2215381"/>
            <a:ext cx="4089648" cy="2373511"/>
          </a:xfrm>
          <a:prstGeom prst="roundRect">
            <a:avLst>
              <a:gd name="adj" fmla="val 4461"/>
            </a:avLst>
          </a:prstGeom>
          <a:solidFill>
            <a:srgbClr val="6237C8"/>
          </a:solidFill>
          <a:ln/>
        </p:spPr>
      </p:sp>
      <p:sp>
        <p:nvSpPr>
          <p:cNvPr id="7" name="Text 5"/>
          <p:cNvSpPr/>
          <p:nvPr/>
        </p:nvSpPr>
        <p:spPr>
          <a:xfrm>
            <a:off x="555873" y="2355503"/>
            <a:ext cx="2479402" cy="2527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What the Code Does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555873" y="2748409"/>
            <a:ext cx="3795564" cy="15792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lnSpc>
                <a:spcPct val="130000"/>
              </a:lnSpc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Loads 60,000 training + 10,000 test images</a:t>
            </a:r>
            <a:endParaRPr lang="en-US" sz="1150" dirty="0"/>
          </a:p>
          <a:p>
            <a:pPr algn="l" marL="342900" indent="-342900">
              <a:lnSpc>
                <a:spcPct val="130000"/>
              </a:lnSpc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Each image is 28×28 pixels (digits 0–9)</a:t>
            </a:r>
            <a:endParaRPr lang="en-US" sz="1150" dirty="0"/>
          </a:p>
          <a:p>
            <a:pPr algn="l" marL="342900" indent="-342900">
              <a:lnSpc>
                <a:spcPct val="130000"/>
              </a:lnSpc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Displays the first digit with </a:t>
            </a:r>
            <a:pPr algn="l" marL="342900" indent="-342900">
              <a:lnSpc>
                <a:spcPct val="130000"/>
              </a:lnSpc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highlight>
                  <a:srgbClr val="6F44D5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plt.imshow()</a:t>
            </a:r>
            <a:endParaRPr lang="en-US" sz="1150" dirty="0"/>
          </a:p>
          <a:p>
            <a:pPr algn="l" marL="342900" indent="-342900">
              <a:lnSpc>
                <a:spcPct val="130000"/>
              </a:lnSpc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Prints the raw matrix: every value = pixel brightness</a:t>
            </a:r>
            <a:endParaRPr lang="en-US" sz="1150" dirty="0"/>
          </a:p>
          <a:p>
            <a:pPr algn="l" marL="342900" indent="-342900">
              <a:lnSpc>
                <a:spcPct val="130000"/>
              </a:lnSpc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Flattens 28×28 → 784-element 1D vector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756175" y="2355503"/>
            <a:ext cx="2479402" cy="2527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Key Insight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4756175" y="2748409"/>
            <a:ext cx="3877866" cy="6891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traditional neural network requires a </a:t>
            </a:r>
            <a:pPr algn="l" indent="0" marL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1D vector</a:t>
            </a:r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not a 2D image. Flattening destroys spatial structure — which is exactly why CNNs were invented to preserve it.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756175" y="3595241"/>
            <a:ext cx="3877866" cy="835968"/>
          </a:xfrm>
          <a:prstGeom prst="roundRect">
            <a:avLst>
              <a:gd name="adj" fmla="val 7389"/>
            </a:avLst>
          </a:prstGeom>
          <a:solidFill>
            <a:srgbClr val="B6D6FC"/>
          </a:solidFill>
          <a:ln/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03217" y="3817069"/>
            <a:ext cx="183803" cy="147042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5234062" y="3772123"/>
            <a:ext cx="3252936" cy="4594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Pixel Value Meaning:</a:t>
            </a:r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0 = black, 255 = white. Every image is just a matrix of numbers.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35696" y="297507"/>
            <a:ext cx="1001837" cy="129406"/>
          </a:xfrm>
          <a:prstGeom prst="roundRect">
            <a:avLst>
              <a:gd name="adj" fmla="val 21285"/>
            </a:avLst>
          </a:prstGeom>
          <a:solidFill>
            <a:srgbClr val="E0D7F4"/>
          </a:solidFill>
          <a:ln/>
        </p:spPr>
      </p:sp>
      <p:sp>
        <p:nvSpPr>
          <p:cNvPr id="3" name="Text 1"/>
          <p:cNvSpPr/>
          <p:nvPr/>
        </p:nvSpPr>
        <p:spPr>
          <a:xfrm>
            <a:off x="2284809" y="322064"/>
            <a:ext cx="1360810" cy="802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PRACTICAL 1 — CONTINUED</a:t>
            </a:r>
            <a:endParaRPr lang="en-US" sz="500" dirty="0"/>
          </a:p>
        </p:txBody>
      </p:sp>
      <p:sp>
        <p:nvSpPr>
          <p:cNvPr id="4" name="Text 2"/>
          <p:cNvSpPr/>
          <p:nvPr/>
        </p:nvSpPr>
        <p:spPr>
          <a:xfrm>
            <a:off x="2235696" y="444326"/>
            <a:ext cx="4672533" cy="5634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CNN Architecture: From Pixels to Predictions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2235696" y="1073051"/>
            <a:ext cx="4672533" cy="2007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After understanding raw image matrices, the notebook introduces a </a:t>
            </a:r>
            <a:pPr algn="l" indent="0" marL="0">
              <a:lnSpc>
                <a:spcPct val="102000"/>
              </a:lnSpc>
              <a:buNone/>
            </a:pPr>
            <a:r>
              <a:rPr lang="en-US" sz="6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CNN trained on CIFAR-10</a:t>
            </a:r>
            <a:pPr algn="l" indent="0" marL="0">
              <a:lnSpc>
                <a:spcPct val="102000"/>
              </a:lnSpc>
              <a:buNone/>
            </a:pPr>
            <a:r>
              <a:rPr lang="en-US" sz="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a dataset of 60,000 color images across 10 object classes (airplane, car, bird, cat, deer, dog, frog, horse, ship, truck).</a:t>
            </a:r>
            <a:endParaRPr lang="en-US" sz="6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54969" y="1322784"/>
            <a:ext cx="4633987" cy="199824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566830" y="2935513"/>
            <a:ext cx="1156401" cy="144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Dense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2566830" y="2472953"/>
            <a:ext cx="1156401" cy="144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Flatten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2566830" y="2015065"/>
            <a:ext cx="1156401" cy="144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MaxPool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2566830" y="1552504"/>
            <a:ext cx="1156401" cy="144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Conv2D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2235696" y="3369990"/>
            <a:ext cx="4672533" cy="3011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Each layer plays a distinct role: </a:t>
            </a:r>
            <a:pPr algn="l" indent="0" marL="0">
              <a:lnSpc>
                <a:spcPct val="102000"/>
              </a:lnSpc>
              <a:buNone/>
            </a:pPr>
            <a:r>
              <a:rPr lang="en-US" sz="6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Conv2D</a:t>
            </a:r>
            <a:pPr algn="l" indent="0" marL="0">
              <a:lnSpc>
                <a:spcPct val="102000"/>
              </a:lnSpc>
              <a:buNone/>
            </a:pPr>
            <a:r>
              <a:rPr lang="en-US" sz="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applies filters that detect edges, corners, and textures. </a:t>
            </a:r>
            <a:pPr algn="l" indent="0" marL="0">
              <a:lnSpc>
                <a:spcPct val="102000"/>
              </a:lnSpc>
              <a:buNone/>
            </a:pPr>
            <a:r>
              <a:rPr lang="en-US" sz="6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MaxPooling</a:t>
            </a:r>
            <a:pPr algn="l" indent="0" marL="0">
              <a:lnSpc>
                <a:spcPct val="102000"/>
              </a:lnSpc>
              <a:buNone/>
            </a:pPr>
            <a:r>
              <a:rPr lang="en-US" sz="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downsamples (e.g., 4×4 → 2×2), reducing memory and speeding training. </a:t>
            </a:r>
            <a:pPr algn="l" indent="0" marL="0">
              <a:lnSpc>
                <a:spcPct val="102000"/>
              </a:lnSpc>
              <a:buNone/>
            </a:pPr>
            <a:r>
              <a:rPr lang="en-US" sz="6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Flatten</a:t>
            </a:r>
            <a:pPr algn="l" indent="0" marL="0">
              <a:lnSpc>
                <a:spcPct val="102000"/>
              </a:lnSpc>
              <a:buNone/>
            </a:pPr>
            <a:r>
              <a:rPr lang="en-US" sz="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converts feature maps to a 1D vector. </a:t>
            </a:r>
            <a:pPr algn="l" indent="0" marL="0">
              <a:lnSpc>
                <a:spcPct val="102000"/>
              </a:lnSpc>
              <a:buNone/>
            </a:pPr>
            <a:r>
              <a:rPr lang="en-US" sz="6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Dense</a:t>
            </a:r>
            <a:pPr algn="l" indent="0" marL="0">
              <a:lnSpc>
                <a:spcPct val="102000"/>
              </a:lnSpc>
              <a:buNone/>
            </a:pPr>
            <a:r>
              <a:rPr lang="en-US" sz="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is the final classification layer outputting a probability for each class.</a:t>
            </a:r>
            <a:endParaRPr lang="en-US" sz="600" dirty="0"/>
          </a:p>
        </p:txBody>
      </p:sp>
      <p:sp>
        <p:nvSpPr>
          <p:cNvPr id="12" name="Shape 9"/>
          <p:cNvSpPr/>
          <p:nvPr/>
        </p:nvSpPr>
        <p:spPr>
          <a:xfrm>
            <a:off x="2235696" y="3720108"/>
            <a:ext cx="2314501" cy="541139"/>
          </a:xfrm>
          <a:prstGeom prst="roundRect">
            <a:avLst>
              <a:gd name="adj" fmla="val 6362"/>
            </a:avLst>
          </a:prstGeom>
          <a:solidFill>
            <a:srgbClr val="E0D7F4"/>
          </a:solidFill>
          <a:ln w="4763">
            <a:solidFill>
              <a:srgbClr val="C6BDD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322388" y="3806800"/>
            <a:ext cx="1127150" cy="1408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Conv2D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2322388" y="3973785"/>
            <a:ext cx="2141116" cy="1003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Learns edges, corners, textures via convolution filters</a:t>
            </a:r>
            <a:endParaRPr lang="en-US" sz="600" dirty="0"/>
          </a:p>
        </p:txBody>
      </p:sp>
      <p:sp>
        <p:nvSpPr>
          <p:cNvPr id="15" name="Shape 12"/>
          <p:cNvSpPr/>
          <p:nvPr/>
        </p:nvSpPr>
        <p:spPr>
          <a:xfrm>
            <a:off x="4593729" y="3720108"/>
            <a:ext cx="2314501" cy="541139"/>
          </a:xfrm>
          <a:prstGeom prst="roundRect">
            <a:avLst>
              <a:gd name="adj" fmla="val 6362"/>
            </a:avLst>
          </a:prstGeom>
          <a:solidFill>
            <a:srgbClr val="E0D7F4"/>
          </a:solidFill>
          <a:ln w="4763">
            <a:solidFill>
              <a:srgbClr val="C6BDD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680421" y="3806800"/>
            <a:ext cx="1127150" cy="1408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MaxPooling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4680421" y="3973785"/>
            <a:ext cx="2141116" cy="2007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Reduces spatial dimensions — less memory, faster training</a:t>
            </a:r>
            <a:endParaRPr lang="en-US" sz="600" dirty="0"/>
          </a:p>
        </p:txBody>
      </p:sp>
      <p:sp>
        <p:nvSpPr>
          <p:cNvPr id="18" name="Shape 15"/>
          <p:cNvSpPr/>
          <p:nvPr/>
        </p:nvSpPr>
        <p:spPr>
          <a:xfrm>
            <a:off x="2235696" y="4304779"/>
            <a:ext cx="2314501" cy="541139"/>
          </a:xfrm>
          <a:prstGeom prst="roundRect">
            <a:avLst>
              <a:gd name="adj" fmla="val 6362"/>
            </a:avLst>
          </a:prstGeom>
          <a:solidFill>
            <a:srgbClr val="E0D7F4"/>
          </a:solidFill>
          <a:ln w="4763">
            <a:solidFill>
              <a:srgbClr val="C6BDD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2322388" y="4391471"/>
            <a:ext cx="1127150" cy="1408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Flatten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2322388" y="4558457"/>
            <a:ext cx="2141116" cy="2007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Converts 2D feature maps into a 1D vector for Dense layers</a:t>
            </a:r>
            <a:endParaRPr lang="en-US" sz="600" dirty="0"/>
          </a:p>
        </p:txBody>
      </p:sp>
      <p:sp>
        <p:nvSpPr>
          <p:cNvPr id="21" name="Shape 18"/>
          <p:cNvSpPr/>
          <p:nvPr/>
        </p:nvSpPr>
        <p:spPr>
          <a:xfrm>
            <a:off x="4593729" y="4304779"/>
            <a:ext cx="2314501" cy="541139"/>
          </a:xfrm>
          <a:prstGeom prst="roundRect">
            <a:avLst>
              <a:gd name="adj" fmla="val 6362"/>
            </a:avLst>
          </a:prstGeom>
          <a:solidFill>
            <a:srgbClr val="E0D7F4"/>
          </a:solidFill>
          <a:ln w="4763">
            <a:solidFill>
              <a:srgbClr val="C6BDDA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680421" y="4391471"/>
            <a:ext cx="1127150" cy="1408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Dense</a:t>
            </a:r>
            <a:endParaRPr lang="en-US" sz="850" dirty="0"/>
          </a:p>
        </p:txBody>
      </p:sp>
      <p:sp>
        <p:nvSpPr>
          <p:cNvPr id="23" name="Text 20"/>
          <p:cNvSpPr/>
          <p:nvPr/>
        </p:nvSpPr>
        <p:spPr>
          <a:xfrm>
            <a:off x="4680421" y="4558457"/>
            <a:ext cx="2141116" cy="2007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Final layer — outputs probability distribution over classes</a:t>
            </a:r>
            <a:endParaRPr lang="en-US" sz="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36303" y="389186"/>
            <a:ext cx="941710" cy="209699"/>
          </a:xfrm>
          <a:prstGeom prst="roundRect">
            <a:avLst>
              <a:gd name="adj" fmla="val 19316"/>
            </a:avLst>
          </a:prstGeom>
          <a:solidFill>
            <a:srgbClr val="E0D7F4"/>
          </a:solidFill>
          <a:ln/>
        </p:spPr>
      </p:sp>
      <p:sp>
        <p:nvSpPr>
          <p:cNvPr id="3" name="Text 1"/>
          <p:cNvSpPr/>
          <p:nvPr/>
        </p:nvSpPr>
        <p:spPr>
          <a:xfrm>
            <a:off x="1208633" y="425351"/>
            <a:ext cx="1254249" cy="137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PRACTICAL 2 &amp; 3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1136303" y="636538"/>
            <a:ext cx="6800999" cy="4143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00" b="1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Image Sharpening &amp; Contrast Adjustment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136303" y="1286247"/>
            <a:ext cx="2114773" cy="2072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Sharpening Kernel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36303" y="1587624"/>
            <a:ext cx="3288655" cy="6869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Sharpening enhances edges by applying a </a:t>
            </a:r>
            <a:pPr algn="l" indent="0" marL="0">
              <a:lnSpc>
                <a:spcPct val="119000"/>
              </a:lnSpc>
              <a:buNone/>
            </a:pPr>
            <a:r>
              <a:rPr lang="en-US" sz="9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3×3 convolution kernel</a:t>
            </a:r>
            <a:pPr algn="l" indent="0" marL="0">
              <a:lnSpc>
                <a:spcPct val="119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where the center pixel gets a strong positive weight and neighbors get negative weights. The result: edge intensity increases.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136303" y="2380506"/>
            <a:ext cx="3288655" cy="1099840"/>
          </a:xfrm>
          <a:prstGeom prst="roundRect">
            <a:avLst>
              <a:gd name="adj" fmla="val 4604"/>
            </a:avLst>
          </a:prstGeom>
          <a:solidFill>
            <a:srgbClr val="F0EDEA"/>
          </a:solidFill>
          <a:ln/>
        </p:spPr>
      </p:sp>
      <p:sp>
        <p:nvSpPr>
          <p:cNvPr id="8" name="Shape 6"/>
          <p:cNvSpPr/>
          <p:nvPr/>
        </p:nvSpPr>
        <p:spPr>
          <a:xfrm>
            <a:off x="1130275" y="2380506"/>
            <a:ext cx="3300710" cy="1099840"/>
          </a:xfrm>
          <a:prstGeom prst="roundRect">
            <a:avLst>
              <a:gd name="adj" fmla="val 1644"/>
            </a:avLst>
          </a:prstGeom>
          <a:solidFill>
            <a:srgbClr val="F0EDEA"/>
          </a:solidFill>
          <a:ln/>
        </p:spPr>
      </p:sp>
      <p:sp>
        <p:nvSpPr>
          <p:cNvPr id="9" name="Text 7"/>
          <p:cNvSpPr/>
          <p:nvPr/>
        </p:nvSpPr>
        <p:spPr>
          <a:xfrm>
            <a:off x="1280964" y="2501057"/>
            <a:ext cx="2999333" cy="8587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kernel = np.array([</a:t>
            </a:r>
            <a:endParaRPr lang="en-US" sz="900" dirty="0"/>
          </a:p>
          <a:p>
            <a:pPr algn="l" indent="0" marL="0">
              <a:lnSpc>
                <a:spcPct val="119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[ 0, -1,  0],</a:t>
            </a:r>
            <a:endParaRPr lang="en-US" sz="900" dirty="0"/>
          </a:p>
          <a:p>
            <a:pPr algn="l" indent="0" marL="0">
              <a:lnSpc>
                <a:spcPct val="119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[-1,  5, -1],</a:t>
            </a:r>
            <a:endParaRPr lang="en-US" sz="900" dirty="0"/>
          </a:p>
          <a:p>
            <a:pPr algn="l" indent="0" marL="0">
              <a:lnSpc>
                <a:spcPct val="119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[ 0, -1,  0]</a:t>
            </a:r>
            <a:endParaRPr lang="en-US" sz="900" dirty="0"/>
          </a:p>
          <a:p>
            <a:pPr algn="l" indent="0" marL="0">
              <a:lnSpc>
                <a:spcPct val="119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])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36303" y="3586237"/>
            <a:ext cx="3288655" cy="5200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900" dirty="0">
                <a:solidFill>
                  <a:srgbClr val="272525"/>
                </a:solidFill>
                <a:highlight>
                  <a:srgbClr val="F0EDE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cv2.filter2D()</a:t>
            </a:r>
            <a:pPr algn="l" indent="0" marL="0">
              <a:lnSpc>
                <a:spcPct val="119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convolves this kernel across the image. The teacher demonstrates: </a:t>
            </a:r>
            <a:pPr algn="l" indent="0" marL="0">
              <a:lnSpc>
                <a:spcPct val="119000"/>
              </a:lnSpc>
              <a:buNone/>
            </a:pPr>
            <a:r>
              <a:rPr lang="en-US" sz="9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Original → Blur → Sharpen</a:t>
            </a:r>
            <a:pPr algn="l" indent="0" marL="0">
              <a:lnSpc>
                <a:spcPct val="119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to compare effects visually.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723805" y="1286247"/>
            <a:ext cx="2114773" cy="2072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Contrast Stretching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723805" y="1587624"/>
            <a:ext cx="3288655" cy="5152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Contrast stretching expands the intensity range of an image to use the full 0–255 spectrum, making it more vivid.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723805" y="2208758"/>
            <a:ext cx="3288655" cy="928092"/>
          </a:xfrm>
          <a:prstGeom prst="roundRect">
            <a:avLst>
              <a:gd name="adj" fmla="val 5455"/>
            </a:avLst>
          </a:prstGeom>
          <a:solidFill>
            <a:srgbClr val="F0EDEA"/>
          </a:solidFill>
          <a:ln/>
        </p:spPr>
      </p:sp>
      <p:sp>
        <p:nvSpPr>
          <p:cNvPr id="14" name="Shape 12"/>
          <p:cNvSpPr/>
          <p:nvPr/>
        </p:nvSpPr>
        <p:spPr>
          <a:xfrm>
            <a:off x="4717777" y="2208758"/>
            <a:ext cx="3300710" cy="928092"/>
          </a:xfrm>
          <a:prstGeom prst="roundRect">
            <a:avLst>
              <a:gd name="adj" fmla="val 1948"/>
            </a:avLst>
          </a:prstGeom>
          <a:solidFill>
            <a:srgbClr val="F0EDEA"/>
          </a:solidFill>
          <a:ln/>
        </p:spPr>
      </p:sp>
      <p:sp>
        <p:nvSpPr>
          <p:cNvPr id="15" name="Text 13"/>
          <p:cNvSpPr/>
          <p:nvPr/>
        </p:nvSpPr>
        <p:spPr>
          <a:xfrm>
            <a:off x="4868466" y="2329309"/>
            <a:ext cx="2999333" cy="6869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min_val = np.min(img)</a:t>
            </a:r>
            <a:endParaRPr lang="en-US" sz="900" dirty="0"/>
          </a:p>
          <a:p>
            <a:pPr algn="l" indent="0" marL="0">
              <a:lnSpc>
                <a:spcPct val="119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max_val = np.max(img)</a:t>
            </a:r>
            <a:endParaRPr lang="en-US" sz="900" dirty="0"/>
          </a:p>
          <a:p>
            <a:pPr algn="l" indent="0" marL="0">
              <a:lnSpc>
                <a:spcPct val="119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stretched = (img - min_val) * (255 / (max_val - min_val))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723805" y="3242742"/>
            <a:ext cx="3288655" cy="5152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9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Example:</a:t>
            </a:r>
            <a:pPr algn="l" indent="0" marL="0">
              <a:lnSpc>
                <a:spcPct val="119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If pixel values range from 80–150, stretching maps them to 0–255. Darker pixels become darker, brighter ones brighter.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723805" y="3863876"/>
            <a:ext cx="3288655" cy="784547"/>
          </a:xfrm>
          <a:prstGeom prst="roundRect">
            <a:avLst>
              <a:gd name="adj" fmla="val 6454"/>
            </a:avLst>
          </a:prstGeom>
          <a:solidFill>
            <a:srgbClr val="D0C3EE"/>
          </a:solidFill>
          <a:ln/>
        </p:spPr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4355" y="4037633"/>
            <a:ext cx="150688" cy="120551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5115595" y="3988147"/>
            <a:ext cx="2776314" cy="5152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Contrast stretching = </a:t>
            </a:r>
            <a:pPr algn="l" indent="0" marL="0">
              <a:lnSpc>
                <a:spcPct val="11900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linear scaling</a:t>
            </a:r>
            <a:pPr algn="l" indent="0" marL="0">
              <a:lnSpc>
                <a:spcPct val="119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Histogram equalization = </a:t>
            </a:r>
            <a:pPr algn="l" indent="0" marL="0">
              <a:lnSpc>
                <a:spcPct val="11900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redistributes pixel frequencies</a:t>
            </a:r>
            <a:pPr algn="l" indent="0" marL="0">
              <a:lnSpc>
                <a:spcPct val="119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This distinction is a favorite viva question.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2733" y="445889"/>
            <a:ext cx="1036737" cy="237306"/>
          </a:xfrm>
          <a:prstGeom prst="roundRect">
            <a:avLst>
              <a:gd name="adj" fmla="val 18776"/>
            </a:avLst>
          </a:prstGeom>
          <a:solidFill>
            <a:srgbClr val="E0D7F4"/>
          </a:solidFill>
          <a:ln/>
        </p:spPr>
      </p:sp>
      <p:sp>
        <p:nvSpPr>
          <p:cNvPr id="3" name="Text 1"/>
          <p:cNvSpPr/>
          <p:nvPr/>
        </p:nvSpPr>
        <p:spPr>
          <a:xfrm>
            <a:off x="872282" y="485626"/>
            <a:ext cx="1334839" cy="1578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PRACTICAL 4 &amp; 5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92733" y="728737"/>
            <a:ext cx="7558534" cy="9117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850" b="1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Histogram Equalization &amp; Image Segmentation</a:t>
            </a:r>
            <a:endParaRPr lang="en-US" sz="28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78446" y="1811387"/>
            <a:ext cx="3736553" cy="288622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82489" y="1958280"/>
            <a:ext cx="1986855" cy="2278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Histogram Equalization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982489" y="2254448"/>
            <a:ext cx="3385617" cy="1847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When an image is too dark, its histogram shows pixels clustered at low intensity values. </a:t>
            </a:r>
            <a:pPr algn="l" indent="0" marL="0">
              <a:lnSpc>
                <a:spcPct val="124000"/>
              </a:lnSpc>
              <a:buNone/>
            </a:pPr>
            <a:r>
              <a:rPr lang="en-US" sz="1000" dirty="0">
                <a:solidFill>
                  <a:srgbClr val="272525"/>
                </a:solidFill>
                <a:highlight>
                  <a:srgbClr val="F0EDE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cv2.equalizeHist()</a:t>
            </a:r>
            <a:pPr algn="l" indent="0" marL="0">
              <a:lnSpc>
                <a:spcPct val="124000"/>
              </a:lnSpc>
              <a:spcAft>
                <a:spcPts val="500"/>
              </a:spcAft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redistributes pixel frequencies so the histogram becomes spread across the full range — dramatically improving contrast.</a:t>
            </a:r>
            <a:endParaRPr lang="en-US" sz="1000" dirty="0"/>
          </a:p>
          <a:p>
            <a:pPr algn="l" indent="0" marL="0">
              <a:lnSpc>
                <a:spcPct val="124000"/>
              </a:lnSpc>
              <a:buNone/>
            </a:pPr>
            <a:r>
              <a:rPr lang="en-US" sz="10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difference from contrast stretching:</a:t>
            </a:r>
            <a:pPr algn="l" indent="0" marL="0">
              <a:lnSpc>
                <a:spcPct val="124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Stretching applies linear scaling; equalization redistributes based on cumulative distribution. Equalization often produces better results on poorly lit images.</a:t>
            </a:r>
            <a:endParaRPr lang="en-US" sz="10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14639" y="1811387"/>
            <a:ext cx="3736628" cy="288622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818683" y="1958280"/>
            <a:ext cx="3172495" cy="2278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Image Segmentation via Thresholding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4818683" y="2254448"/>
            <a:ext cx="3385691" cy="3943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Thresholding applies a simple rule to separate objects from background: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4818683" y="2776984"/>
            <a:ext cx="3385691" cy="856804"/>
          </a:xfrm>
          <a:prstGeom prst="roundRect">
            <a:avLst>
              <a:gd name="adj" fmla="val 6500"/>
            </a:avLst>
          </a:prstGeom>
          <a:solidFill>
            <a:srgbClr val="F0EDEA"/>
          </a:solidFill>
          <a:ln/>
        </p:spPr>
      </p:sp>
      <p:sp>
        <p:nvSpPr>
          <p:cNvPr id="12" name="Shape 8"/>
          <p:cNvSpPr/>
          <p:nvPr/>
        </p:nvSpPr>
        <p:spPr>
          <a:xfrm>
            <a:off x="4812060" y="2776984"/>
            <a:ext cx="3398937" cy="856804"/>
          </a:xfrm>
          <a:prstGeom prst="roundRect">
            <a:avLst>
              <a:gd name="adj" fmla="val 2322"/>
            </a:avLst>
          </a:prstGeom>
          <a:solidFill>
            <a:srgbClr val="F0EDEA"/>
          </a:solidFill>
          <a:ln/>
        </p:spPr>
      </p:sp>
      <p:sp>
        <p:nvSpPr>
          <p:cNvPr id="13" name="Text 9"/>
          <p:cNvSpPr/>
          <p:nvPr/>
        </p:nvSpPr>
        <p:spPr>
          <a:xfrm>
            <a:off x="4977780" y="2909590"/>
            <a:ext cx="3067496" cy="591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cv2.threshold(img, 127, 255, cv2.THRESH_BINARY)</a:t>
            </a:r>
            <a:endParaRPr lang="en-US" sz="1000" dirty="0"/>
          </a:p>
          <a:p>
            <a:pPr algn="l" indent="0" marL="0">
              <a:lnSpc>
                <a:spcPct val="124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Pixel &gt; 127  →  255 (white)</a:t>
            </a:r>
            <a:endParaRPr lang="en-US" sz="1000" dirty="0"/>
          </a:p>
          <a:p>
            <a:pPr algn="l" indent="0" marL="0">
              <a:lnSpc>
                <a:spcPct val="124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Pixel ≤ 127  →  0   (black)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4818683" y="3761929"/>
            <a:ext cx="3385691" cy="7887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0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Example:</a:t>
            </a:r>
            <a:pPr algn="l" indent="0" marL="0">
              <a:lnSpc>
                <a:spcPct val="124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Input pixels [50, 120, 180, 240] → Output [0, 0, 255, 255]. This binary mask isolates bright regions — a foundational technique in object detection and medical imaging.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67619" y="409947"/>
            <a:ext cx="955849" cy="215057"/>
          </a:xfrm>
          <a:prstGeom prst="roundRect">
            <a:avLst>
              <a:gd name="adj" fmla="val 19211"/>
            </a:avLst>
          </a:prstGeom>
          <a:solidFill>
            <a:srgbClr val="E0D7F4"/>
          </a:solidFill>
          <a:ln/>
        </p:spPr>
      </p:sp>
      <p:sp>
        <p:nvSpPr>
          <p:cNvPr id="3" name="Text 1"/>
          <p:cNvSpPr/>
          <p:nvPr/>
        </p:nvSpPr>
        <p:spPr>
          <a:xfrm>
            <a:off x="1141363" y="446782"/>
            <a:ext cx="1265560" cy="1413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PRACTICAL 6 &amp; 7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1067619" y="664146"/>
            <a:ext cx="6601569" cy="4226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50" b="1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CNN Assignment &amp; Image Compression</a:t>
            </a:r>
            <a:endParaRPr lang="en-US" sz="2650" dirty="0"/>
          </a:p>
        </p:txBody>
      </p:sp>
      <p:sp>
        <p:nvSpPr>
          <p:cNvPr id="5" name="Shape 3"/>
          <p:cNvSpPr/>
          <p:nvPr/>
        </p:nvSpPr>
        <p:spPr>
          <a:xfrm>
            <a:off x="979140" y="1233785"/>
            <a:ext cx="3531394" cy="3499768"/>
          </a:xfrm>
          <a:prstGeom prst="roundRect">
            <a:avLst>
              <a:gd name="adj" fmla="val 2530"/>
            </a:avLst>
          </a:prstGeom>
          <a:solidFill>
            <a:srgbClr val="6237C8"/>
          </a:solidFill>
          <a:ln/>
        </p:spPr>
      </p:sp>
      <p:sp>
        <p:nvSpPr>
          <p:cNvPr id="6" name="Text 4"/>
          <p:cNvSpPr/>
          <p:nvPr/>
        </p:nvSpPr>
        <p:spPr>
          <a:xfrm>
            <a:off x="1102072" y="1331714"/>
            <a:ext cx="2774007" cy="2113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CNN Assignment (Practical 6)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102072" y="1640979"/>
            <a:ext cx="3285530" cy="3533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Build a CNN that classifies </a:t>
            </a:r>
            <a:pPr algn="l" indent="0" marL="0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 least 3 classes</a:t>
            </a:r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Follow this pipeline: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102072" y="2082478"/>
            <a:ext cx="3285530" cy="8093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lnSpc>
                <a:spcPct val="120000"/>
              </a:lnSpc>
              <a:buSzPct val="100000"/>
              <a:buFont typeface="+mj-lt"/>
              <a:buAutoNum type="arabicPeriod" startAt="1"/>
            </a:pPr>
            <a:r>
              <a:rPr lang="en-US" sz="9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Collect your dataset</a:t>
            </a:r>
            <a:endParaRPr lang="en-US" sz="950" dirty="0"/>
          </a:p>
          <a:p>
            <a:pPr algn="l" marL="342900" indent="-342900">
              <a:lnSpc>
                <a:spcPct val="120000"/>
              </a:lnSpc>
              <a:buSzPct val="100000"/>
              <a:buFont typeface="+mj-lt"/>
              <a:buAutoNum type="arabicPeriod" startAt="2"/>
            </a:pPr>
            <a:r>
              <a:rPr lang="en-US" sz="9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Preprocess with OpenCV (resize, normalize)</a:t>
            </a:r>
            <a:endParaRPr lang="en-US" sz="950" dirty="0"/>
          </a:p>
          <a:p>
            <a:pPr algn="l" marL="342900" indent="-342900">
              <a:lnSpc>
                <a:spcPct val="120000"/>
              </a:lnSpc>
              <a:buSzPct val="100000"/>
              <a:buFont typeface="+mj-lt"/>
              <a:buAutoNum type="arabicPeriod" startAt="3"/>
            </a:pPr>
            <a:r>
              <a:rPr lang="en-US" sz="9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Design CNN architecture (Conv2D → Pool → Dense)</a:t>
            </a:r>
            <a:endParaRPr lang="en-US" sz="950" dirty="0"/>
          </a:p>
          <a:p>
            <a:pPr algn="l" marL="342900" indent="-342900">
              <a:lnSpc>
                <a:spcPct val="120000"/>
              </a:lnSpc>
              <a:buSzPct val="100000"/>
              <a:buFont typeface="+mj-lt"/>
              <a:buAutoNum type="arabicPeriod" startAt="4"/>
            </a:pPr>
            <a:r>
              <a:rPr lang="en-US" sz="9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Train and evaluate accuracy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726707" y="1331714"/>
            <a:ext cx="2964359" cy="2113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Image Compression (Practical 7)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726707" y="1640979"/>
            <a:ext cx="3354437" cy="5299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JPEG compression reduces file size by sacrificing quality. The </a:t>
            </a:r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272525"/>
                </a:solidFill>
                <a:highlight>
                  <a:srgbClr val="F0EDE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IMWRITE_JPEG_QUALITY</a:t>
            </a:r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parameter controls the trade-off: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726707" y="2281163"/>
            <a:ext cx="3354437" cy="1724025"/>
          </a:xfrm>
          <a:prstGeom prst="roundRect">
            <a:avLst>
              <a:gd name="adj" fmla="val 2996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54401" y="2349475"/>
            <a:ext cx="1881411" cy="1766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Quality Value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529239" y="2349475"/>
            <a:ext cx="1881411" cy="1766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Result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854401" y="2657996"/>
            <a:ext cx="1881411" cy="1766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100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529239" y="2657996"/>
            <a:ext cx="1881411" cy="1766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Best quality, largest file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854401" y="2966517"/>
            <a:ext cx="1881411" cy="1766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80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6529239" y="2966517"/>
            <a:ext cx="1881411" cy="1766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Good quality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854401" y="3275037"/>
            <a:ext cx="1881411" cy="1766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50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529239" y="3275037"/>
            <a:ext cx="1881411" cy="1766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Medium quality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854401" y="3583558"/>
            <a:ext cx="1881411" cy="1766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30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529239" y="3583558"/>
            <a:ext cx="1424211" cy="3533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Heavy compression, small file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726707" y="4115395"/>
            <a:ext cx="3354437" cy="5299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Lower quality = less storage, bandwidth, and transfer time. Always add </a:t>
            </a:r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272525"/>
                </a:solidFill>
                <a:highlight>
                  <a:srgbClr val="F0EDE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if img is None:</a:t>
            </a:r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to prevent crashes on failed loads.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36303" y="375121"/>
            <a:ext cx="766614" cy="209699"/>
          </a:xfrm>
          <a:prstGeom prst="roundRect">
            <a:avLst>
              <a:gd name="adj" fmla="val 19316"/>
            </a:avLst>
          </a:prstGeom>
          <a:solidFill>
            <a:srgbClr val="E0D7F4"/>
          </a:solidFill>
          <a:ln/>
        </p:spPr>
      </p:sp>
      <p:sp>
        <p:nvSpPr>
          <p:cNvPr id="3" name="Text 1"/>
          <p:cNvSpPr/>
          <p:nvPr/>
        </p:nvSpPr>
        <p:spPr>
          <a:xfrm>
            <a:off x="1208633" y="411287"/>
            <a:ext cx="1079153" cy="137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PRACTICAL 8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1136303" y="622474"/>
            <a:ext cx="5586264" cy="4143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00" b="1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Face Detection with Haar Cascade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136303" y="1178049"/>
            <a:ext cx="6871395" cy="3434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is one of the most important sections. Haar Cascade is a </a:t>
            </a:r>
            <a:pPr algn="l" indent="0" marL="0">
              <a:lnSpc>
                <a:spcPct val="119000"/>
              </a:lnSpc>
              <a:buNone/>
            </a:pPr>
            <a:r>
              <a:rPr lang="en-US" sz="9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pretrained classical detector</a:t>
            </a:r>
            <a:pPr algn="l" indent="0" marL="0">
              <a:lnSpc>
                <a:spcPct val="119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that works on grayscale intensity patterns — no deep learning required.</a:t>
            </a:r>
            <a:endParaRPr lang="en-US" sz="9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36303" y="1627436"/>
            <a:ext cx="301377" cy="30137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36303" y="2046536"/>
            <a:ext cx="1657573" cy="2072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Convert to Grayscale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136303" y="2310259"/>
            <a:ext cx="3376836" cy="3482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900" dirty="0">
                <a:solidFill>
                  <a:srgbClr val="272525"/>
                </a:solidFill>
                <a:highlight>
                  <a:srgbClr val="F0EDE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cv2.cvtColor(img, COLOR_BGR2GRAY)</a:t>
            </a:r>
            <a:pPr algn="l" indent="0" marL="0">
              <a:lnSpc>
                <a:spcPct val="119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Haar Cascade only needs intensity information, not color channels.</a:t>
            </a:r>
            <a:endParaRPr lang="en-US" sz="9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30862" y="1627436"/>
            <a:ext cx="301377" cy="301377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630862" y="2046536"/>
            <a:ext cx="1657573" cy="2072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detectMultiScale()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4630862" y="2310259"/>
            <a:ext cx="3376836" cy="3434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Scans the image at multiple scales to find faces of different sizes. Returns bounding box coordinates (x, y, w, h).</a:t>
            </a:r>
            <a:endParaRPr lang="en-US" sz="9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36303" y="2846859"/>
            <a:ext cx="301377" cy="301377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136303" y="3265959"/>
            <a:ext cx="1657573" cy="2072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scaleFactor = 1.3</a:t>
            </a:r>
            <a:endParaRPr lang="en-US" sz="1300" dirty="0"/>
          </a:p>
        </p:txBody>
      </p:sp>
      <p:sp>
        <p:nvSpPr>
          <p:cNvPr id="14" name="Text 9"/>
          <p:cNvSpPr/>
          <p:nvPr/>
        </p:nvSpPr>
        <p:spPr>
          <a:xfrm>
            <a:off x="1136303" y="3529682"/>
            <a:ext cx="3376836" cy="5152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Each iteration shrinks the search window by ~23% (100% → 77% → 59%…). Enables detection of faces at varying distances.</a:t>
            </a:r>
            <a:endParaRPr lang="en-US" sz="90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630862" y="2846859"/>
            <a:ext cx="301377" cy="301377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4630862" y="3265959"/>
            <a:ext cx="1657573" cy="2072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minNeighbors = 5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4630862" y="3529682"/>
            <a:ext cx="3376836" cy="5152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Requires at least 5 nearby detections to confirm a face. Higher value = fewer false positives but may miss some faces.</a:t>
            </a:r>
            <a:endParaRPr lang="en-US" sz="900" dirty="0"/>
          </a:p>
        </p:txBody>
      </p:sp>
      <p:sp>
        <p:nvSpPr>
          <p:cNvPr id="18" name="Shape 12"/>
          <p:cNvSpPr/>
          <p:nvPr/>
        </p:nvSpPr>
        <p:spPr>
          <a:xfrm>
            <a:off x="1136303" y="4150816"/>
            <a:ext cx="6871395" cy="617562"/>
          </a:xfrm>
          <a:prstGeom prst="roundRect">
            <a:avLst>
              <a:gd name="adj" fmla="val 8199"/>
            </a:avLst>
          </a:prstGeom>
          <a:solidFill>
            <a:srgbClr val="FCF2B5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56854" y="4324573"/>
            <a:ext cx="150688" cy="1205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1528093" y="4275088"/>
            <a:ext cx="6359054" cy="3482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Viva Tip:</a:t>
            </a:r>
            <a:pPr algn="l" indent="0" marL="0">
              <a:lnSpc>
                <a:spcPct val="119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Know what </a:t>
            </a:r>
            <a:pPr algn="l" indent="0" marL="0">
              <a:lnSpc>
                <a:spcPct val="119000"/>
              </a:lnSpc>
              <a:buNone/>
            </a:pPr>
            <a:r>
              <a:rPr lang="en-US" sz="900" dirty="0">
                <a:solidFill>
                  <a:srgbClr val="000000"/>
                </a:solidFill>
                <a:highlight>
                  <a:srgbClr val="F0EDE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scaleFactor</a:t>
            </a:r>
            <a:pPr algn="l" indent="0" marL="0">
              <a:lnSpc>
                <a:spcPct val="119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and </a:t>
            </a:r>
            <a:pPr algn="l" indent="0" marL="0">
              <a:lnSpc>
                <a:spcPct val="119000"/>
              </a:lnSpc>
              <a:buNone/>
            </a:pPr>
            <a:r>
              <a:rPr lang="en-US" sz="900" dirty="0">
                <a:solidFill>
                  <a:srgbClr val="000000"/>
                </a:solidFill>
                <a:highlight>
                  <a:srgbClr val="F0EDE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minNeighbors</a:t>
            </a:r>
            <a:pPr algn="l" indent="0" marL="0">
              <a:lnSpc>
                <a:spcPct val="119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do — these are among the most commonly asked questions from this notebook.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0176" y="395213"/>
            <a:ext cx="1041648" cy="226144"/>
          </a:xfrm>
          <a:prstGeom prst="roundRect">
            <a:avLst>
              <a:gd name="adj" fmla="val 18986"/>
            </a:avLst>
          </a:prstGeom>
          <a:solidFill>
            <a:srgbClr val="E0D7F4"/>
          </a:solidFill>
          <a:ln/>
        </p:spPr>
      </p:sp>
      <p:sp>
        <p:nvSpPr>
          <p:cNvPr id="3" name="Text 1"/>
          <p:cNvSpPr/>
          <p:nvPr/>
        </p:nvSpPr>
        <p:spPr>
          <a:xfrm>
            <a:off x="1006822" y="433536"/>
            <a:ext cx="1345555" cy="1494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PRACTICAL 9 &amp; 10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930176" y="663625"/>
            <a:ext cx="7283648" cy="8783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Deep Learning Face Detection &amp; MediaPipe Pose</a:t>
            </a:r>
            <a:endParaRPr lang="en-US" sz="2750" dirty="0"/>
          </a:p>
        </p:txBody>
      </p:sp>
      <p:sp>
        <p:nvSpPr>
          <p:cNvPr id="5" name="Text 3"/>
          <p:cNvSpPr/>
          <p:nvPr/>
        </p:nvSpPr>
        <p:spPr>
          <a:xfrm>
            <a:off x="930176" y="1806550"/>
            <a:ext cx="3126060" cy="2195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SSD Deep Learning Face Detector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930176" y="2131963"/>
            <a:ext cx="3486001" cy="5653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Downloads </a:t>
            </a:r>
            <a:pPr algn="l" indent="0" marL="0">
              <a:lnSpc>
                <a:spcPct val="122000"/>
              </a:lnSpc>
              <a:buNone/>
            </a:pPr>
            <a:r>
              <a:rPr lang="en-US" sz="1000" dirty="0">
                <a:solidFill>
                  <a:srgbClr val="272525"/>
                </a:solidFill>
                <a:highlight>
                  <a:srgbClr val="F0EDE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deploy.prototxt</a:t>
            </a:r>
            <a:pPr algn="l" indent="0" marL="0">
              <a:lnSpc>
                <a:spcPct val="122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and a </a:t>
            </a:r>
            <a:pPr algn="l" indent="0" marL="0">
              <a:lnSpc>
                <a:spcPct val="122000"/>
              </a:lnSpc>
              <a:buNone/>
            </a:pPr>
            <a:r>
              <a:rPr lang="en-US" sz="1000" dirty="0">
                <a:solidFill>
                  <a:srgbClr val="272525"/>
                </a:solidFill>
                <a:highlight>
                  <a:srgbClr val="F0EDE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.caffemodel</a:t>
            </a:r>
            <a:pPr algn="l" indent="0" marL="0">
              <a:lnSpc>
                <a:spcPct val="122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file — an SSD (Single Shot Detector) network. Compared to Haar Cascade: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930176" y="2816275"/>
            <a:ext cx="3486001" cy="1813024"/>
          </a:xfrm>
          <a:prstGeom prst="roundRect">
            <a:avLst>
              <a:gd name="adj" fmla="val 2960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34938" y="2821037"/>
            <a:ext cx="3476104" cy="510183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1063154" y="2889275"/>
            <a:ext cx="1357833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0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Feature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224088" y="2889275"/>
            <a:ext cx="1355452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0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Haar Cascade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382640" y="2889275"/>
            <a:ext cx="900633" cy="3737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0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SSD Deep Learning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934938" y="3331220"/>
            <a:ext cx="3476104" cy="32332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1063154" y="3399458"/>
            <a:ext cx="1357833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Era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224088" y="3399458"/>
            <a:ext cx="1355452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Classical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382640" y="3399458"/>
            <a:ext cx="1357833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Modern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934938" y="3654549"/>
            <a:ext cx="3476104" cy="32332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1063154" y="3722787"/>
            <a:ext cx="1357833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Accuracy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224088" y="3722787"/>
            <a:ext cx="1355452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Lower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382640" y="3722787"/>
            <a:ext cx="1357833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Higher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934938" y="3977878"/>
            <a:ext cx="3476104" cy="32332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1063154" y="4046116"/>
            <a:ext cx="1357833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Low light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224088" y="4046116"/>
            <a:ext cx="1355452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Weak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382640" y="4046116"/>
            <a:ext cx="1357833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Robust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934938" y="4301207"/>
            <a:ext cx="3476104" cy="32332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1063154" y="4369445"/>
            <a:ext cx="1357833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Features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224088" y="4369445"/>
            <a:ext cx="1355452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Handcrafted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382640" y="4369445"/>
            <a:ext cx="1357833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Learned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640610" y="1700733"/>
            <a:ext cx="3669953" cy="3047554"/>
          </a:xfrm>
          <a:prstGeom prst="roundRect">
            <a:avLst>
              <a:gd name="adj" fmla="val 3019"/>
            </a:avLst>
          </a:prstGeom>
          <a:solidFill>
            <a:srgbClr val="6237C8"/>
          </a:solidFill>
          <a:ln/>
        </p:spPr>
      </p:sp>
      <p:sp>
        <p:nvSpPr>
          <p:cNvPr id="29" name="Text 27"/>
          <p:cNvSpPr/>
          <p:nvPr/>
        </p:nvSpPr>
        <p:spPr>
          <a:xfrm>
            <a:off x="4768379" y="1806550"/>
            <a:ext cx="2552551" cy="2195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MediaPipe Pose Detection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4768379" y="2131963"/>
            <a:ext cx="3414415" cy="3784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Installs </a:t>
            </a:r>
            <a:pPr algn="l" indent="0" marL="0">
              <a:lnSpc>
                <a:spcPct val="122000"/>
              </a:lnSpc>
              <a:buNone/>
            </a:pPr>
            <a:r>
              <a:rPr lang="en-US" sz="1000" dirty="0">
                <a:solidFill>
                  <a:srgbClr val="FFFFFF"/>
                </a:solidFill>
                <a:highlight>
                  <a:srgbClr val="6F44D5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mediapipe</a:t>
            </a:r>
            <a:pPr algn="l" indent="0" marL="0">
              <a:lnSpc>
                <a:spcPct val="122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and </a:t>
            </a:r>
            <a:pPr algn="l" indent="0" marL="0">
              <a:lnSpc>
                <a:spcPct val="122000"/>
              </a:lnSpc>
              <a:buNone/>
            </a:pPr>
            <a:r>
              <a:rPr lang="en-US" sz="1000" dirty="0">
                <a:solidFill>
                  <a:srgbClr val="FFFFFF"/>
                </a:solidFill>
                <a:highlight>
                  <a:srgbClr val="6F44D5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opencv-python</a:t>
            </a:r>
            <a:pPr algn="l" indent="0" marL="0">
              <a:lnSpc>
                <a:spcPct val="122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to detect </a:t>
            </a:r>
            <a:pPr algn="l" indent="0" marL="0">
              <a:lnSpc>
                <a:spcPct val="122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body landmarks</a:t>
            </a:r>
            <a:pPr algn="l" indent="0" marL="0">
              <a:lnSpc>
                <a:spcPct val="122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in real time: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768379" y="2605608"/>
            <a:ext cx="3414415" cy="4106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lnSpc>
                <a:spcPct val="122000"/>
              </a:lnSpc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Shoulders, elbows, wrists</a:t>
            </a:r>
            <a:endParaRPr lang="en-US" sz="1000" dirty="0"/>
          </a:p>
          <a:p>
            <a:pPr algn="l" marL="342900" indent="-342900">
              <a:lnSpc>
                <a:spcPct val="122000"/>
              </a:lnSpc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Hips, knees, ankles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768379" y="3111475"/>
            <a:ext cx="3414415" cy="560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Applications:</a:t>
            </a:r>
            <a:pPr algn="l" indent="0" marL="0">
              <a:lnSpc>
                <a:spcPct val="122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Yoga pose detection, exercise tracking, gesture recognition, and human pose estimation for sports analytics.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273746" y="358304"/>
            <a:ext cx="664220" cy="198909"/>
          </a:xfrm>
          <a:prstGeom prst="roundRect">
            <a:avLst>
              <a:gd name="adj" fmla="val 19549"/>
            </a:avLst>
          </a:prstGeom>
          <a:solidFill>
            <a:srgbClr val="E0D7F4"/>
          </a:solidFill>
          <a:ln/>
        </p:spPr>
      </p:sp>
      <p:sp>
        <p:nvSpPr>
          <p:cNvPr id="3" name="Text 1"/>
          <p:cNvSpPr/>
          <p:nvPr/>
        </p:nvSpPr>
        <p:spPr>
          <a:xfrm>
            <a:off x="1343174" y="392981"/>
            <a:ext cx="982563" cy="1295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 PREP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1273746" y="591889"/>
            <a:ext cx="6219751" cy="3978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500" b="1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Most Important Viva &amp; Exam Questions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1273746" y="1119857"/>
            <a:ext cx="6596509" cy="3239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These questions are drawn directly from every practical in the notebook. Use them as a study checklist before your exam.</a:t>
            </a:r>
            <a:endParaRPr lang="en-US" sz="9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273746" y="1541487"/>
            <a:ext cx="2140967" cy="257048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257425" y="1618506"/>
            <a:ext cx="173534" cy="21691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1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1403747" y="1989683"/>
            <a:ext cx="1838251" cy="1988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Neural Networks &amp; CNNs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1403747" y="2240533"/>
            <a:ext cx="1880964" cy="13870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lnSpc>
                <a:spcPct val="117000"/>
              </a:lnSpc>
              <a:buSzPct val="100000"/>
              <a:buChar char="•"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 are neural networks needed for image recognition?</a:t>
            </a:r>
            <a:endParaRPr lang="en-US" sz="900" dirty="0"/>
          </a:p>
          <a:p>
            <a:pPr algn="l" marL="342900" indent="-342900">
              <a:lnSpc>
                <a:spcPct val="117000"/>
              </a:lnSpc>
              <a:buSzPct val="100000"/>
              <a:buChar char="•"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is image flattening and why is it needed?</a:t>
            </a:r>
            <a:endParaRPr lang="en-US" sz="900" dirty="0"/>
          </a:p>
          <a:p>
            <a:pPr algn="l" marL="342900" indent="-342900">
              <a:lnSpc>
                <a:spcPct val="117000"/>
              </a:lnSpc>
              <a:buSzPct val="100000"/>
              <a:buChar char="•"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Difference between ANN and CNN?</a:t>
            </a:r>
            <a:endParaRPr lang="en-US" sz="900" dirty="0"/>
          </a:p>
          <a:p>
            <a:pPr algn="l" marL="342900" indent="-342900">
              <a:lnSpc>
                <a:spcPct val="117000"/>
              </a:lnSpc>
              <a:buSzPct val="100000"/>
              <a:buChar char="•"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Explain Conv2D and MaxPooling layers.</a:t>
            </a:r>
            <a:endParaRPr lang="en-US" sz="9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501479" y="1541487"/>
            <a:ext cx="2140967" cy="2570485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485159" y="1618506"/>
            <a:ext cx="173534" cy="21691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2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3631481" y="1989683"/>
            <a:ext cx="1591270" cy="1988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Image Processing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3631481" y="2240533"/>
            <a:ext cx="1880964" cy="13870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lnSpc>
                <a:spcPct val="117000"/>
              </a:lnSpc>
              <a:buSzPct val="100000"/>
              <a:buChar char="•"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Explain the sharpening kernel and why 5 is in the center.</a:t>
            </a:r>
            <a:endParaRPr lang="en-US" sz="900" dirty="0"/>
          </a:p>
          <a:p>
            <a:pPr algn="l" marL="342900" indent="-342900">
              <a:lnSpc>
                <a:spcPct val="117000"/>
              </a:lnSpc>
              <a:buSzPct val="100000"/>
              <a:buChar char="•"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is contrast stretching?</a:t>
            </a:r>
            <a:endParaRPr lang="en-US" sz="900" dirty="0"/>
          </a:p>
          <a:p>
            <a:pPr algn="l" marL="342900" indent="-342900">
              <a:lnSpc>
                <a:spcPct val="117000"/>
              </a:lnSpc>
              <a:buSzPct val="100000"/>
              <a:buChar char="•"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Difference between histogram equalization and contrast stretching.</a:t>
            </a:r>
            <a:endParaRPr lang="en-US" sz="900" dirty="0"/>
          </a:p>
          <a:p>
            <a:pPr algn="l" marL="342900" indent="-342900">
              <a:lnSpc>
                <a:spcPct val="117000"/>
              </a:lnSpc>
              <a:buSzPct val="100000"/>
              <a:buChar char="•"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is thresholding and image segmentation?</a:t>
            </a:r>
            <a:endParaRPr lang="en-US" sz="90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729213" y="1541487"/>
            <a:ext cx="2141041" cy="2570485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712967" y="1618506"/>
            <a:ext cx="173534" cy="21691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3</a:t>
            </a:r>
            <a:endParaRPr lang="en-US" sz="1350" dirty="0"/>
          </a:p>
        </p:txBody>
      </p:sp>
      <p:sp>
        <p:nvSpPr>
          <p:cNvPr id="16" name="Text 11"/>
          <p:cNvSpPr/>
          <p:nvPr/>
        </p:nvSpPr>
        <p:spPr>
          <a:xfrm>
            <a:off x="5859214" y="1989683"/>
            <a:ext cx="1868314" cy="1988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Compression &amp; Detection</a:t>
            </a:r>
            <a:endParaRPr lang="en-US" sz="1250" dirty="0"/>
          </a:p>
        </p:txBody>
      </p:sp>
      <p:sp>
        <p:nvSpPr>
          <p:cNvPr id="17" name="Text 12"/>
          <p:cNvSpPr/>
          <p:nvPr/>
        </p:nvSpPr>
        <p:spPr>
          <a:xfrm>
            <a:off x="5859214" y="2240533"/>
            <a:ext cx="1881039" cy="17414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lnSpc>
                <a:spcPct val="117000"/>
              </a:lnSpc>
              <a:buSzPct val="100000"/>
              <a:buChar char="•"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Difference between lossy and lossless compression.</a:t>
            </a:r>
            <a:endParaRPr lang="en-US" sz="900" dirty="0"/>
          </a:p>
          <a:p>
            <a:pPr algn="l" marL="342900" indent="-342900">
              <a:lnSpc>
                <a:spcPct val="117000"/>
              </a:lnSpc>
              <a:buSzPct val="100000"/>
              <a:buChar char="•"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Explain Haar Cascade and </a:t>
            </a:r>
            <a:pPr algn="l" marL="342900" indent="-342900">
              <a:lnSpc>
                <a:spcPct val="117000"/>
              </a:lnSpc>
              <a:buSzPct val="100000"/>
              <a:buChar char="•"/>
            </a:pPr>
            <a:r>
              <a:rPr lang="en-US" sz="900" dirty="0">
                <a:solidFill>
                  <a:srgbClr val="272525"/>
                </a:solidFill>
                <a:highlight>
                  <a:srgbClr val="F0EDE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detectMultiScale()</a:t>
            </a:r>
            <a:pPr algn="l" marL="342900" indent="-342900">
              <a:lnSpc>
                <a:spcPct val="117000"/>
              </a:lnSpc>
              <a:buSzPct val="100000"/>
              <a:buChar char="•"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900" dirty="0"/>
          </a:p>
          <a:p>
            <a:pPr algn="l" marL="342900" indent="-342900">
              <a:lnSpc>
                <a:spcPct val="117000"/>
              </a:lnSpc>
              <a:buSzPct val="100000"/>
              <a:buChar char="•"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do </a:t>
            </a:r>
            <a:pPr algn="l" marL="342900" indent="-342900">
              <a:lnSpc>
                <a:spcPct val="117000"/>
              </a:lnSpc>
              <a:buSzPct val="100000"/>
              <a:buChar char="•"/>
            </a:pPr>
            <a:r>
              <a:rPr lang="en-US" sz="900" dirty="0">
                <a:solidFill>
                  <a:srgbClr val="272525"/>
                </a:solidFill>
                <a:highlight>
                  <a:srgbClr val="F0EDE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scaleFactor</a:t>
            </a:r>
            <a:pPr algn="l" marL="342900" indent="-342900">
              <a:lnSpc>
                <a:spcPct val="117000"/>
              </a:lnSpc>
              <a:buSzPct val="100000"/>
              <a:buChar char="•"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and </a:t>
            </a:r>
            <a:pPr algn="l" marL="342900" indent="-342900">
              <a:lnSpc>
                <a:spcPct val="117000"/>
              </a:lnSpc>
              <a:buSzPct val="100000"/>
              <a:buChar char="•"/>
            </a:pPr>
            <a:r>
              <a:rPr lang="en-US" sz="900" dirty="0">
                <a:solidFill>
                  <a:srgbClr val="272525"/>
                </a:solidFill>
                <a:highlight>
                  <a:srgbClr val="F0EDE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minNeighbors</a:t>
            </a:r>
            <a:pPr algn="l" marL="342900" indent="-342900">
              <a:lnSpc>
                <a:spcPct val="117000"/>
              </a:lnSpc>
              <a:buSzPct val="100000"/>
              <a:buChar char="•"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control?</a:t>
            </a:r>
            <a:endParaRPr lang="en-US" sz="900" dirty="0"/>
          </a:p>
          <a:p>
            <a:pPr algn="l" marL="342900" indent="-342900">
              <a:lnSpc>
                <a:spcPct val="117000"/>
              </a:lnSpc>
              <a:buSzPct val="100000"/>
              <a:buChar char="•"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Haar Cascade vs. Deep Learning face detection?</a:t>
            </a:r>
            <a:endParaRPr lang="en-US" sz="900" dirty="0"/>
          </a:p>
          <a:p>
            <a:pPr algn="l" marL="342900" indent="-342900">
              <a:lnSpc>
                <a:spcPct val="117000"/>
              </a:lnSpc>
              <a:buSzPct val="100000"/>
              <a:buChar char="•"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is MediaPipe and its applications?</a:t>
            </a:r>
            <a:endParaRPr lang="en-US" sz="900" dirty="0"/>
          </a:p>
        </p:txBody>
      </p:sp>
      <p:sp>
        <p:nvSpPr>
          <p:cNvPr id="18" name="Shape 13"/>
          <p:cNvSpPr/>
          <p:nvPr/>
        </p:nvSpPr>
        <p:spPr>
          <a:xfrm>
            <a:off x="1273746" y="4209604"/>
            <a:ext cx="6596509" cy="575518"/>
          </a:xfrm>
          <a:prstGeom prst="roundRect">
            <a:avLst>
              <a:gd name="adj" fmla="val 8446"/>
            </a:avLst>
          </a:prstGeom>
          <a:solidFill>
            <a:srgbClr val="B6FCB8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89459" y="4376738"/>
            <a:ext cx="144661" cy="115714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649834" y="4325243"/>
            <a:ext cx="6104706" cy="3239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 Tip:</a:t>
            </a:r>
            <a:pPr algn="l" indent="0" marL="0">
              <a:lnSpc>
                <a:spcPct val="117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The histogram equalization vs. contrast stretching question and the Haar Cascade parameters (</a:t>
            </a:r>
            <a:pPr algn="l" indent="0" marL="0">
              <a:lnSpc>
                <a:spcPct val="117000"/>
              </a:lnSpc>
              <a:buNone/>
            </a:pPr>
            <a:r>
              <a:rPr lang="en-US" sz="900" dirty="0">
                <a:solidFill>
                  <a:srgbClr val="000000"/>
                </a:solidFill>
                <a:highlight>
                  <a:srgbClr val="F0EDE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scaleFactor</a:t>
            </a:r>
            <a:pPr algn="l" indent="0" marL="0">
              <a:lnSpc>
                <a:spcPct val="117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</a:t>
            </a:r>
            <a:pPr algn="l" indent="0" marL="0">
              <a:lnSpc>
                <a:spcPct val="117000"/>
              </a:lnSpc>
              <a:buNone/>
            </a:pPr>
            <a:r>
              <a:rPr lang="en-US" sz="900" dirty="0">
                <a:solidFill>
                  <a:srgbClr val="000000"/>
                </a:solidFill>
                <a:highlight>
                  <a:srgbClr val="F0EDE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minNeighbors</a:t>
            </a:r>
            <a:pPr algn="l" indent="0" marL="0">
              <a:lnSpc>
                <a:spcPct val="117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) appear most frequently in viva exams.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2026-06-01T13:12:59Z</dcterms:created>
  <dcterms:modified xsi:type="dcterms:W3CDTF">2026-06-01T13:12:59Z</dcterms:modified>
</cp:coreProperties>
</file>